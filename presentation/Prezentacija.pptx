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 Bold" charset="1" panose="020B0803030101060003"/>
      <p:regular r:id="rId19"/>
    </p:embeddedFont>
    <p:embeddedFont>
      <p:font typeface="Handsome" charset="1" panose="03050502040207070C04"/>
      <p:regular r:id="rId20"/>
    </p:embeddedFont>
    <p:embeddedFont>
      <p:font typeface="Raleway" charset="1" panose="020B05030301010600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VAG997Mu6lI.mp4" Type="http://schemas.openxmlformats.org/officeDocument/2006/relationships/video"/><Relationship Id="rId4" Target="../media/VAG997Mu6lI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VAG99-r5FYw.mp4" Type="http://schemas.openxmlformats.org/officeDocument/2006/relationships/video"/><Relationship Id="rId4" Target="../media/VAG99-r5FYw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600450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4816593" cy="97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0"/>
                </a:lnSpc>
              </a:pPr>
              <a:r>
                <a:rPr lang="en-US" b="true" sz="80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NEURONSKE MREŽE KAO GRAFOVI</a:t>
              </a:r>
            </a:p>
            <a:p>
              <a:pPr algn="ctr">
                <a:lnSpc>
                  <a:spcPts val="78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862451">
            <a:off x="-464628" y="-2649020"/>
            <a:ext cx="5509029" cy="5509029"/>
          </a:xfrm>
          <a:custGeom>
            <a:avLst/>
            <a:gdLst/>
            <a:ahLst/>
            <a:cxnLst/>
            <a:rect r="r" b="b" t="t" l="l"/>
            <a:pathLst>
              <a:path h="5509029" w="5509029">
                <a:moveTo>
                  <a:pt x="0" y="0"/>
                </a:moveTo>
                <a:lnTo>
                  <a:pt x="5509029" y="0"/>
                </a:lnTo>
                <a:lnTo>
                  <a:pt x="5509029" y="5509030"/>
                </a:lnTo>
                <a:lnTo>
                  <a:pt x="0" y="550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5205020"/>
            <a:ext cx="1828800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Handsome"/>
                <a:ea typeface="Handsome"/>
                <a:cs typeface="Handsome"/>
                <a:sym typeface="Handsome"/>
              </a:rPr>
              <a:t>Struktura, dinamika i otpornost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862451">
            <a:off x="13266818" y="-3108229"/>
            <a:ext cx="6216458" cy="6216458"/>
          </a:xfrm>
          <a:custGeom>
            <a:avLst/>
            <a:gdLst/>
            <a:ahLst/>
            <a:cxnLst/>
            <a:rect r="r" b="b" t="t" l="l"/>
            <a:pathLst>
              <a:path h="6216458" w="6216458">
                <a:moveTo>
                  <a:pt x="0" y="0"/>
                </a:moveTo>
                <a:lnTo>
                  <a:pt x="6216457" y="0"/>
                </a:lnTo>
                <a:lnTo>
                  <a:pt x="6216457" y="6216458"/>
                </a:lnTo>
                <a:lnTo>
                  <a:pt x="0" y="6216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36422" y="9163050"/>
            <a:ext cx="6661180" cy="776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4"/>
              </a:lnSpc>
              <a:spcBef>
                <a:spcPct val="0"/>
              </a:spcBef>
            </a:pPr>
            <a:r>
              <a:rPr lang="en-US" sz="455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Rubina Rekić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9371619">
            <a:off x="446639" y="6680088"/>
            <a:ext cx="3686495" cy="2990097"/>
          </a:xfrm>
          <a:custGeom>
            <a:avLst/>
            <a:gdLst/>
            <a:ahLst/>
            <a:cxnLst/>
            <a:rect r="r" b="b" t="t" l="l"/>
            <a:pathLst>
              <a:path h="2990097" w="3686495">
                <a:moveTo>
                  <a:pt x="0" y="0"/>
                </a:moveTo>
                <a:lnTo>
                  <a:pt x="3686495" y="0"/>
                </a:lnTo>
                <a:lnTo>
                  <a:pt x="3686495" y="2990098"/>
                </a:lnTo>
                <a:lnTo>
                  <a:pt x="0" y="2990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645" r="0" b="-1164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59662">
            <a:off x="8854864" y="-2614432"/>
            <a:ext cx="5509029" cy="5509029"/>
          </a:xfrm>
          <a:custGeom>
            <a:avLst/>
            <a:gdLst/>
            <a:ahLst/>
            <a:cxnLst/>
            <a:rect r="r" b="b" t="t" l="l"/>
            <a:pathLst>
              <a:path h="5509029" w="5509029">
                <a:moveTo>
                  <a:pt x="0" y="0"/>
                </a:moveTo>
                <a:lnTo>
                  <a:pt x="5509029" y="0"/>
                </a:lnTo>
                <a:lnTo>
                  <a:pt x="5509029" y="5509029"/>
                </a:lnTo>
                <a:lnTo>
                  <a:pt x="0" y="5509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40718">
            <a:off x="3653608" y="-2754515"/>
            <a:ext cx="5509029" cy="5509029"/>
          </a:xfrm>
          <a:custGeom>
            <a:avLst/>
            <a:gdLst/>
            <a:ahLst/>
            <a:cxnLst/>
            <a:rect r="r" b="b" t="t" l="l"/>
            <a:pathLst>
              <a:path h="5509029" w="5509029">
                <a:moveTo>
                  <a:pt x="0" y="0"/>
                </a:moveTo>
                <a:lnTo>
                  <a:pt x="5509029" y="0"/>
                </a:lnTo>
                <a:lnTo>
                  <a:pt x="5509029" y="5509030"/>
                </a:lnTo>
                <a:lnTo>
                  <a:pt x="0" y="550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165904" cy="10287000"/>
            <a:chOff x="0" y="0"/>
            <a:chExt cx="2424022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4022" cy="3479800"/>
            </a:xfrm>
            <a:custGeom>
              <a:avLst/>
              <a:gdLst/>
              <a:ahLst/>
              <a:cxnLst/>
              <a:rect r="r" b="b" t="t" l="l"/>
              <a:pathLst>
                <a:path h="3479800" w="2424022">
                  <a:moveTo>
                    <a:pt x="0" y="0"/>
                  </a:moveTo>
                  <a:lnTo>
                    <a:pt x="2424022" y="0"/>
                  </a:lnTo>
                  <a:lnTo>
                    <a:pt x="2424022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8213113" y="5876261"/>
            <a:ext cx="9041249" cy="0"/>
          </a:xfrm>
          <a:prstGeom prst="line">
            <a:avLst/>
          </a:prstGeom>
          <a:ln cap="rnd" w="2952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9999">
            <a:off x="9471311" y="6192835"/>
            <a:ext cx="414073" cy="0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 rot="5399999">
            <a:off x="12526701" y="6192835"/>
            <a:ext cx="414073" cy="0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rot="5399999">
            <a:off x="15578668" y="6192835"/>
            <a:ext cx="414073" cy="0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8767814">
            <a:off x="2292136" y="6458271"/>
            <a:ext cx="4691528" cy="1391820"/>
          </a:xfrm>
          <a:custGeom>
            <a:avLst/>
            <a:gdLst/>
            <a:ahLst/>
            <a:cxnLst/>
            <a:rect r="r" b="b" t="t" l="l"/>
            <a:pathLst>
              <a:path h="1391820" w="4691528">
                <a:moveTo>
                  <a:pt x="0" y="0"/>
                </a:moveTo>
                <a:lnTo>
                  <a:pt x="4691528" y="0"/>
                </a:lnTo>
                <a:lnTo>
                  <a:pt x="4691528" y="1391820"/>
                </a:lnTo>
                <a:lnTo>
                  <a:pt x="0" y="139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67480" y="3537938"/>
            <a:ext cx="3221734" cy="2147823"/>
          </a:xfrm>
          <a:custGeom>
            <a:avLst/>
            <a:gdLst/>
            <a:ahLst/>
            <a:cxnLst/>
            <a:rect r="r" b="b" t="t" l="l"/>
            <a:pathLst>
              <a:path h="2147823" w="3221734">
                <a:moveTo>
                  <a:pt x="0" y="0"/>
                </a:moveTo>
                <a:lnTo>
                  <a:pt x="3221734" y="0"/>
                </a:lnTo>
                <a:lnTo>
                  <a:pt x="3221734" y="2147823"/>
                </a:lnTo>
                <a:lnTo>
                  <a:pt x="0" y="2147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70620" y="3688121"/>
            <a:ext cx="1830167" cy="1830167"/>
          </a:xfrm>
          <a:custGeom>
            <a:avLst/>
            <a:gdLst/>
            <a:ahLst/>
            <a:cxnLst/>
            <a:rect r="r" b="b" t="t" l="l"/>
            <a:pathLst>
              <a:path h="1830167" w="1830167">
                <a:moveTo>
                  <a:pt x="0" y="0"/>
                </a:moveTo>
                <a:lnTo>
                  <a:pt x="1830168" y="0"/>
                </a:lnTo>
                <a:lnTo>
                  <a:pt x="1830168" y="1830167"/>
                </a:lnTo>
                <a:lnTo>
                  <a:pt x="0" y="1830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64635" y="3873463"/>
            <a:ext cx="3338206" cy="1644825"/>
          </a:xfrm>
          <a:custGeom>
            <a:avLst/>
            <a:gdLst/>
            <a:ahLst/>
            <a:cxnLst/>
            <a:rect r="r" b="b" t="t" l="l"/>
            <a:pathLst>
              <a:path h="1644825" w="3338206">
                <a:moveTo>
                  <a:pt x="0" y="0"/>
                </a:moveTo>
                <a:lnTo>
                  <a:pt x="3338206" y="0"/>
                </a:lnTo>
                <a:lnTo>
                  <a:pt x="3338206" y="1644825"/>
                </a:lnTo>
                <a:lnTo>
                  <a:pt x="0" y="1644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10147" y="1254904"/>
            <a:ext cx="717605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b="true" sz="56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Motivacija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808" y="6620781"/>
            <a:ext cx="426507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Strukturalno</a:t>
            </a:r>
          </a:p>
          <a:p>
            <a:pPr algn="ctr">
              <a:lnSpc>
                <a:spcPts val="4140"/>
              </a:lnSpc>
            </a:pPr>
            <a:r>
              <a:rPr lang="en-US" b="true" sz="345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modeliranje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04658" y="6620781"/>
            <a:ext cx="4874884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4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Simulacija  </a:t>
            </a:r>
          </a:p>
          <a:p>
            <a:pPr algn="ctr">
              <a:lnSpc>
                <a:spcPts val="4140"/>
              </a:lnSpc>
            </a:pPr>
            <a:r>
              <a:rPr lang="en-US" sz="34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dinamike</a:t>
            </a:r>
          </a:p>
          <a:p>
            <a:pPr algn="ctr">
              <a:lnSpc>
                <a:spcPts val="4140"/>
              </a:lnSpc>
            </a:pPr>
            <a:r>
              <a:rPr lang="en-US" sz="34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prenosa</a:t>
            </a:r>
          </a:p>
          <a:p>
            <a:pPr algn="ctr">
              <a:lnSpc>
                <a:spcPts val="4140"/>
              </a:lnSpc>
            </a:pPr>
            <a:r>
              <a:rPr lang="en-US" b="true" sz="345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signala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02913" y="6620781"/>
            <a:ext cx="294719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b="true" sz="345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Analiza otpronosti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37" y="3353777"/>
            <a:ext cx="7073068" cy="301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603" indent="-306802" lvl="1">
              <a:lnSpc>
                <a:spcPts val="3978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biološka složenost</a:t>
            </a:r>
          </a:p>
          <a:p>
            <a:pPr algn="just">
              <a:lnSpc>
                <a:spcPts val="3978"/>
              </a:lnSpc>
            </a:pPr>
          </a:p>
          <a:p>
            <a:pPr algn="just" marL="613603" indent="-306802" lvl="1">
              <a:lnSpc>
                <a:spcPts val="3978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teorija grafova kao alat za modeliranje</a:t>
            </a:r>
          </a:p>
          <a:p>
            <a:pPr algn="just">
              <a:lnSpc>
                <a:spcPts val="3978"/>
              </a:lnSpc>
            </a:pPr>
          </a:p>
          <a:p>
            <a:pPr algn="just" marL="613603" indent="-306802" lvl="1">
              <a:lnSpc>
                <a:spcPts val="3978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ciljevi rada</a:t>
            </a:r>
          </a:p>
          <a:p>
            <a:pPr algn="just">
              <a:lnSpc>
                <a:spcPts val="3978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123142" y="1997854"/>
            <a:ext cx="722119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</a:t>
            </a:r>
            <a:r>
              <a:rPr lang="en-US" b="true" sz="56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truktura rada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1054" y="2211354"/>
            <a:ext cx="3271571" cy="2932146"/>
          </a:xfrm>
          <a:custGeom>
            <a:avLst/>
            <a:gdLst/>
            <a:ahLst/>
            <a:cxnLst/>
            <a:rect r="r" b="b" t="t" l="l"/>
            <a:pathLst>
              <a:path h="2932146" w="3271571">
                <a:moveTo>
                  <a:pt x="0" y="0"/>
                </a:moveTo>
                <a:lnTo>
                  <a:pt x="3271571" y="0"/>
                </a:lnTo>
                <a:lnTo>
                  <a:pt x="3271571" y="2932146"/>
                </a:lnTo>
                <a:lnTo>
                  <a:pt x="0" y="2932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97214" y="1275985"/>
            <a:ext cx="9012482" cy="3867515"/>
          </a:xfrm>
          <a:custGeom>
            <a:avLst/>
            <a:gdLst/>
            <a:ahLst/>
            <a:cxnLst/>
            <a:rect r="r" b="b" t="t" l="l"/>
            <a:pathLst>
              <a:path h="3867515" w="9012482">
                <a:moveTo>
                  <a:pt x="0" y="0"/>
                </a:moveTo>
                <a:lnTo>
                  <a:pt x="9012482" y="0"/>
                </a:lnTo>
                <a:lnTo>
                  <a:pt x="9012482" y="3867515"/>
                </a:lnTo>
                <a:lnTo>
                  <a:pt x="0" y="3867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87340" y="6597997"/>
            <a:ext cx="7539335" cy="3075297"/>
          </a:xfrm>
          <a:custGeom>
            <a:avLst/>
            <a:gdLst/>
            <a:ahLst/>
            <a:cxnLst/>
            <a:rect r="r" b="b" t="t" l="l"/>
            <a:pathLst>
              <a:path h="3075297" w="7539335">
                <a:moveTo>
                  <a:pt x="0" y="0"/>
                </a:moveTo>
                <a:lnTo>
                  <a:pt x="7539336" y="0"/>
                </a:lnTo>
                <a:lnTo>
                  <a:pt x="7539336" y="3075297"/>
                </a:lnTo>
                <a:lnTo>
                  <a:pt x="0" y="307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1631" y="6393790"/>
            <a:ext cx="8998481" cy="241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4"/>
              </a:lnSpc>
            </a:pPr>
            <a:r>
              <a:rPr lang="en-US" sz="7986" b="true">
                <a:solidFill>
                  <a:srgbClr val="BBD8D8"/>
                </a:solidFill>
                <a:latin typeface="Raleway Bold"/>
                <a:ea typeface="Raleway Bold"/>
                <a:cs typeface="Raleway Bold"/>
                <a:sym typeface="Raleway Bold"/>
              </a:rPr>
              <a:t>Strukturalno </a:t>
            </a:r>
          </a:p>
          <a:p>
            <a:pPr algn="ctr">
              <a:lnSpc>
                <a:spcPts val="9584"/>
              </a:lnSpc>
            </a:pPr>
            <a:r>
              <a:rPr lang="en-US" b="true" sz="7986">
                <a:solidFill>
                  <a:srgbClr val="BBD8D8"/>
                </a:solidFill>
                <a:latin typeface="Raleway Bold"/>
                <a:ea typeface="Raleway Bold"/>
                <a:cs typeface="Raleway Bold"/>
                <a:sym typeface="Raleway Bold"/>
              </a:rPr>
              <a:t>modeliranje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9278" y="401556"/>
            <a:ext cx="5237230" cy="116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1. Model: Usmjereni težinski graf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75793" y="444202"/>
            <a:ext cx="7655324" cy="58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2. Topologija: Barabási-Albert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22070" y="5809292"/>
            <a:ext cx="5237230" cy="58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3.  Daleov zakon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712" y="511395"/>
            <a:ext cx="17482742" cy="9331553"/>
          </a:xfrm>
          <a:custGeom>
            <a:avLst/>
            <a:gdLst/>
            <a:ahLst/>
            <a:cxnLst/>
            <a:rect r="r" b="b" t="t" l="l"/>
            <a:pathLst>
              <a:path h="9331553" w="17482742">
                <a:moveTo>
                  <a:pt x="0" y="0"/>
                </a:moveTo>
                <a:lnTo>
                  <a:pt x="17482743" y="0"/>
                </a:lnTo>
                <a:lnTo>
                  <a:pt x="17482743" y="9331553"/>
                </a:lnTo>
                <a:lnTo>
                  <a:pt x="0" y="9331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8562" y="1028700"/>
            <a:ext cx="15790877" cy="8047902"/>
          </a:xfrm>
          <a:custGeom>
            <a:avLst/>
            <a:gdLst/>
            <a:ahLst/>
            <a:cxnLst/>
            <a:rect r="r" b="b" t="t" l="l"/>
            <a:pathLst>
              <a:path h="8047902" w="15790877">
                <a:moveTo>
                  <a:pt x="0" y="0"/>
                </a:moveTo>
                <a:lnTo>
                  <a:pt x="15790876" y="0"/>
                </a:lnTo>
                <a:lnTo>
                  <a:pt x="15790876" y="8047902"/>
                </a:lnTo>
                <a:lnTo>
                  <a:pt x="0" y="804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3173"/>
            <a:ext cx="18288000" cy="6000653"/>
            <a:chOff x="0" y="0"/>
            <a:chExt cx="4816593" cy="1580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80419"/>
            </a:xfrm>
            <a:custGeom>
              <a:avLst/>
              <a:gdLst/>
              <a:ahLst/>
              <a:cxnLst/>
              <a:rect r="r" b="b" t="t" l="l"/>
              <a:pathLst>
                <a:path h="158041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637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48954" y="2808669"/>
            <a:ext cx="10647905" cy="4669662"/>
            <a:chOff x="0" y="0"/>
            <a:chExt cx="2804386" cy="1229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4386" cy="1229870"/>
            </a:xfrm>
            <a:custGeom>
              <a:avLst/>
              <a:gdLst/>
              <a:ahLst/>
              <a:cxnLst/>
              <a:rect r="r" b="b" t="t" l="l"/>
              <a:pathLst>
                <a:path h="1229870" w="2804386">
                  <a:moveTo>
                    <a:pt x="0" y="0"/>
                  </a:moveTo>
                  <a:lnTo>
                    <a:pt x="2804386" y="0"/>
                  </a:lnTo>
                  <a:lnTo>
                    <a:pt x="2804386" y="1229870"/>
                  </a:lnTo>
                  <a:lnTo>
                    <a:pt x="0" y="1229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804386" cy="12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Dinamička simulacija prenosa signala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8456" y="3839856"/>
            <a:ext cx="3457435" cy="3457435"/>
          </a:xfrm>
          <a:custGeom>
            <a:avLst/>
            <a:gdLst/>
            <a:ahLst/>
            <a:cxnLst/>
            <a:rect r="r" b="b" t="t" l="l"/>
            <a:pathLst>
              <a:path h="3457435" w="3457435">
                <a:moveTo>
                  <a:pt x="0" y="0"/>
                </a:moveTo>
                <a:lnTo>
                  <a:pt x="3457435" y="0"/>
                </a:lnTo>
                <a:lnTo>
                  <a:pt x="3457435" y="3457435"/>
                </a:lnTo>
                <a:lnTo>
                  <a:pt x="0" y="345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2921" y="5143500"/>
            <a:ext cx="1894141" cy="2998001"/>
          </a:xfrm>
          <a:custGeom>
            <a:avLst/>
            <a:gdLst/>
            <a:ahLst/>
            <a:cxnLst/>
            <a:rect r="r" b="b" t="t" l="l"/>
            <a:pathLst>
              <a:path h="2998001" w="1894141">
                <a:moveTo>
                  <a:pt x="0" y="0"/>
                </a:moveTo>
                <a:lnTo>
                  <a:pt x="1894141" y="0"/>
                </a:lnTo>
                <a:lnTo>
                  <a:pt x="1894141" y="2998001"/>
                </a:lnTo>
                <a:lnTo>
                  <a:pt x="0" y="2998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03" t="0" r="-2357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60961" y="4573092"/>
            <a:ext cx="4352447" cy="4352447"/>
          </a:xfrm>
          <a:custGeom>
            <a:avLst/>
            <a:gdLst/>
            <a:ahLst/>
            <a:cxnLst/>
            <a:rect r="r" b="b" t="t" l="l"/>
            <a:pathLst>
              <a:path h="4352447" w="4352447">
                <a:moveTo>
                  <a:pt x="0" y="0"/>
                </a:moveTo>
                <a:lnTo>
                  <a:pt x="4352447" y="0"/>
                </a:lnTo>
                <a:lnTo>
                  <a:pt x="4352447" y="4352447"/>
                </a:lnTo>
                <a:lnTo>
                  <a:pt x="0" y="4352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90338">
            <a:off x="-904620" y="5621823"/>
            <a:ext cx="5862810" cy="1739300"/>
          </a:xfrm>
          <a:custGeom>
            <a:avLst/>
            <a:gdLst/>
            <a:ahLst/>
            <a:cxnLst/>
            <a:rect r="r" b="b" t="t" l="l"/>
            <a:pathLst>
              <a:path h="1739300" w="5862810">
                <a:moveTo>
                  <a:pt x="0" y="0"/>
                </a:moveTo>
                <a:lnTo>
                  <a:pt x="5862810" y="0"/>
                </a:lnTo>
                <a:lnTo>
                  <a:pt x="5862810" y="1739301"/>
                </a:lnTo>
                <a:lnTo>
                  <a:pt x="0" y="1739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7062" y="381057"/>
            <a:ext cx="8704461" cy="118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4"/>
              </a:lnSpc>
              <a:spcBef>
                <a:spcPct val="0"/>
              </a:spcBef>
            </a:pPr>
            <a:r>
              <a:rPr lang="en-US" sz="6924">
                <a:solidFill>
                  <a:srgbClr val="4F6C6C"/>
                </a:solidFill>
                <a:latin typeface="Raleway"/>
                <a:ea typeface="Raleway"/>
                <a:cs typeface="Raleway"/>
                <a:sym typeface="Raleway"/>
              </a:rPr>
              <a:t>Modeliranje dinamike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6648" y="2255528"/>
            <a:ext cx="309334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1" indent="-431796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Sumacija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98273" y="3462030"/>
            <a:ext cx="520203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1" indent="-431796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Refaktorni  preiod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81968" y="2858779"/>
            <a:ext cx="331440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1" indent="-431796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Disipacija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342900"/>
            <a:ext cx="18288000" cy="960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04" r="0" b="104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665" y="1868629"/>
            <a:ext cx="16629293" cy="8174197"/>
          </a:xfrm>
          <a:custGeom>
            <a:avLst/>
            <a:gdLst/>
            <a:ahLst/>
            <a:cxnLst/>
            <a:rect r="r" b="b" t="t" l="l"/>
            <a:pathLst>
              <a:path h="8174197" w="16629293">
                <a:moveTo>
                  <a:pt x="0" y="0"/>
                </a:moveTo>
                <a:lnTo>
                  <a:pt x="16629294" y="0"/>
                </a:lnTo>
                <a:lnTo>
                  <a:pt x="16629294" y="8174197"/>
                </a:lnTo>
                <a:lnTo>
                  <a:pt x="0" y="817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0688" y="-1581"/>
            <a:ext cx="1828800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Analiza otpornosti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30688" y="952500"/>
            <a:ext cx="1834937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Slučajni kvar vs. Ciljani napad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5656" y="1683652"/>
            <a:ext cx="12199293" cy="6384344"/>
          </a:xfrm>
          <a:custGeom>
            <a:avLst/>
            <a:gdLst/>
            <a:ahLst/>
            <a:cxnLst/>
            <a:rect r="r" b="b" t="t" l="l"/>
            <a:pathLst>
              <a:path h="6384344" w="12199293">
                <a:moveTo>
                  <a:pt x="0" y="0"/>
                </a:moveTo>
                <a:lnTo>
                  <a:pt x="12199292" y="0"/>
                </a:lnTo>
                <a:lnTo>
                  <a:pt x="12199292" y="6384343"/>
                </a:lnTo>
                <a:lnTo>
                  <a:pt x="0" y="6384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36436" y="1903524"/>
            <a:ext cx="5785794" cy="5944599"/>
            <a:chOff x="0" y="0"/>
            <a:chExt cx="1523830" cy="15656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3831" cy="1565656"/>
            </a:xfrm>
            <a:custGeom>
              <a:avLst/>
              <a:gdLst/>
              <a:ahLst/>
              <a:cxnLst/>
              <a:rect r="r" b="b" t="t" l="l"/>
              <a:pathLst>
                <a:path h="1565656" w="1523831">
                  <a:moveTo>
                    <a:pt x="0" y="0"/>
                  </a:moveTo>
                  <a:lnTo>
                    <a:pt x="1523831" y="0"/>
                  </a:lnTo>
                  <a:lnTo>
                    <a:pt x="1523831" y="1565656"/>
                  </a:lnTo>
                  <a:lnTo>
                    <a:pt x="0" y="1565656"/>
                  </a:ln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23830" cy="1622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26542" y="5141831"/>
            <a:ext cx="5605582" cy="2606247"/>
            <a:chOff x="0" y="0"/>
            <a:chExt cx="1476367" cy="686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6367" cy="686419"/>
            </a:xfrm>
            <a:custGeom>
              <a:avLst/>
              <a:gdLst/>
              <a:ahLst/>
              <a:cxnLst/>
              <a:rect r="r" b="b" t="t" l="l"/>
              <a:pathLst>
                <a:path h="686419" w="1476367">
                  <a:moveTo>
                    <a:pt x="0" y="0"/>
                  </a:moveTo>
                  <a:lnTo>
                    <a:pt x="1476367" y="0"/>
                  </a:lnTo>
                  <a:lnTo>
                    <a:pt x="1476367" y="686419"/>
                  </a:lnTo>
                  <a:lnTo>
                    <a:pt x="0" y="686419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76367" cy="743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826542" y="5301498"/>
            <a:ext cx="5605582" cy="194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9"/>
              </a:lnSpc>
              <a:spcBef>
                <a:spcPct val="0"/>
              </a:spcBef>
            </a:pPr>
            <a:r>
              <a:rPr lang="en-US" sz="273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istraživanje kvaliteta komunikacije unutar preostalog dijela mreže mjerenjem prosječne dužine najkraćeg puta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3636" y="2475524"/>
            <a:ext cx="5291393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Analiza efikasnosti komunikacije (Average Shortest Path Length)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3927" y="2213052"/>
            <a:ext cx="7614187" cy="4796938"/>
          </a:xfrm>
          <a:custGeom>
            <a:avLst/>
            <a:gdLst/>
            <a:ahLst/>
            <a:cxnLst/>
            <a:rect r="r" b="b" t="t" l="l"/>
            <a:pathLst>
              <a:path h="4796938" w="7614187">
                <a:moveTo>
                  <a:pt x="0" y="0"/>
                </a:moveTo>
                <a:lnTo>
                  <a:pt x="7614186" y="0"/>
                </a:lnTo>
                <a:lnTo>
                  <a:pt x="7614186" y="4796938"/>
                </a:lnTo>
                <a:lnTo>
                  <a:pt x="0" y="4796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3678" y="6013845"/>
            <a:ext cx="4273155" cy="4273155"/>
          </a:xfrm>
          <a:custGeom>
            <a:avLst/>
            <a:gdLst/>
            <a:ahLst/>
            <a:cxnLst/>
            <a:rect r="r" b="b" t="t" l="l"/>
            <a:pathLst>
              <a:path h="4273155" w="4273155">
                <a:moveTo>
                  <a:pt x="0" y="0"/>
                </a:moveTo>
                <a:lnTo>
                  <a:pt x="4273155" y="0"/>
                </a:lnTo>
                <a:lnTo>
                  <a:pt x="4273155" y="4273155"/>
                </a:lnTo>
                <a:lnTo>
                  <a:pt x="0" y="4273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3678" y="923925"/>
            <a:ext cx="13653393" cy="83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8"/>
              </a:lnSpc>
              <a:spcBef>
                <a:spcPct val="0"/>
              </a:spcBef>
            </a:pPr>
            <a:r>
              <a:rPr lang="en-US" b="true" sz="4870">
                <a:solidFill>
                  <a:srgbClr val="4F6C6C"/>
                </a:solidFill>
                <a:latin typeface="Raleway Bold"/>
                <a:ea typeface="Raleway Bold"/>
                <a:cs typeface="Raleway Bold"/>
                <a:sym typeface="Raleway Bold"/>
              </a:rPr>
              <a:t>Povezanost s vještačkom inteligencijom (ANN)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3968" y="2971006"/>
            <a:ext cx="5778103" cy="62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1"/>
              </a:lnSpc>
              <a:spcBef>
                <a:spcPct val="0"/>
              </a:spcBef>
            </a:pPr>
            <a:r>
              <a:rPr lang="en-US" b="true" sz="357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Strukturalna ekvivalencija: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5664" y="3786507"/>
            <a:ext cx="8414711" cy="213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6"/>
              </a:lnSpc>
            </a:pPr>
            <a:r>
              <a:rPr lang="en-US" sz="280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Neuroni = čvorovi grafa </a:t>
            </a:r>
          </a:p>
          <a:p>
            <a:pPr algn="ctr">
              <a:lnSpc>
                <a:spcPts val="5826"/>
              </a:lnSpc>
            </a:pPr>
            <a:r>
              <a:rPr lang="en-US" sz="280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Sinapse = usmjerene težinske grane</a:t>
            </a:r>
          </a:p>
          <a:p>
            <a:pPr algn="ctr">
              <a:lnSpc>
                <a:spcPts val="5826"/>
              </a:lnSpc>
            </a:pPr>
            <a:r>
              <a:rPr lang="en-US" sz="280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Matrica težina (ANN)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8120521"/>
            <a:ext cx="8214040" cy="161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2"/>
              </a:lnSpc>
            </a:pPr>
            <a:r>
              <a:rPr lang="en-US" sz="272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Širenje signala u grafu &lt;-&gt; Forward pass proces</a:t>
            </a:r>
          </a:p>
          <a:p>
            <a:pPr algn="ctr">
              <a:lnSpc>
                <a:spcPts val="6812"/>
              </a:lnSpc>
            </a:pPr>
            <a:r>
              <a:rPr lang="en-US" sz="272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Prag aktivacije &lt;-&gt; Aktivacijska funkcija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57752" y="7384605"/>
            <a:ext cx="4186535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8"/>
              </a:lnSpc>
              <a:spcBef>
                <a:spcPct val="0"/>
              </a:spcBef>
            </a:pPr>
            <a:r>
              <a:rPr lang="en-US" b="true" sz="357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Dinamička sličnost: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BBD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9328" y="1429664"/>
            <a:ext cx="11988470" cy="299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8"/>
              </a:lnSpc>
            </a:pPr>
          </a:p>
          <a:p>
            <a:pPr algn="l">
              <a:lnSpc>
                <a:spcPts val="11628"/>
              </a:lnSpc>
            </a:pPr>
            <a:r>
              <a:rPr lang="en-US" sz="10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Hvala na pažnji!</a:t>
            </a:r>
          </a:p>
        </p:txBody>
      </p:sp>
      <p:sp>
        <p:nvSpPr>
          <p:cNvPr name="AutoShape 3" id="3"/>
          <p:cNvSpPr/>
          <p:nvPr/>
        </p:nvSpPr>
        <p:spPr>
          <a:xfrm>
            <a:off x="2039328" y="4644881"/>
            <a:ext cx="11988470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039328" y="5127620"/>
            <a:ext cx="6995174" cy="83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6"/>
              </a:lnSpc>
              <a:spcBef>
                <a:spcPct val="0"/>
              </a:spcBef>
            </a:pPr>
            <a:r>
              <a:rPr lang="en-US" b="true" sz="49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Diskusija 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DAG98qQQJxA</dc:identifier>
  <dcterms:modified xsi:type="dcterms:W3CDTF">2011-08-01T06:04:30Z</dcterms:modified>
  <cp:revision>1</cp:revision>
  <dc:title>Turquois White Minimalist Modern Presentation</dc:title>
</cp:coreProperties>
</file>